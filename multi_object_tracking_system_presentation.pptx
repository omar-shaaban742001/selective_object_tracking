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SORT</c:v>
                </c:pt>
              </c:strCache>
            </c:strRef>
          </c:tx>
          <c:spPr>
            <a:solidFill>
              <a:srgbClr val="5D7890"/>
            </a:solidFill>
            <a:ln w="25400" cap="flat">
              <a:solidFill>
                <a:srgbClr val="5D7890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5D7890"/>
              </a:solidFill>
              <a:ln w="9525" cap="flat">
                <a:solidFill>
                  <a:srgbClr val="5D789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Speed</c:v>
                  </c:pt>
                  <c:pt idx="1">
                    <c:v>Occlusion</c:v>
                  </c:pt>
                  <c:pt idx="2">
                    <c:v>ID Stability</c:v>
                  </c:pt>
                  <c:pt idx="3">
                    <c:v>Setup simplicity</c:v>
                  </c:pt>
                  <c:pt idx="4">
                    <c:v>Demo fit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</c:v>
                </c:pt>
                <c:pt idx="1">
                  <c:v>4</c:v>
                </c:pt>
                <c:pt idx="2">
                  <c:v>4</c:v>
                </c:pt>
                <c:pt idx="3">
                  <c:v>9</c:v>
                </c:pt>
                <c:pt idx="4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DeepSORT</c:v>
                </c:pt>
              </c:strCache>
            </c:strRef>
          </c:tx>
          <c:spPr>
            <a:solidFill>
              <a:srgbClr val="00D4FF"/>
            </a:solidFill>
            <a:ln w="25400" cap="flat">
              <a:solidFill>
                <a:srgbClr val="00D4FF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00D4FF"/>
              </a:solidFill>
              <a:ln w="9525" cap="flat">
                <a:solidFill>
                  <a:srgbClr val="00D4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Speed</c:v>
                  </c:pt>
                  <c:pt idx="1">
                    <c:v>Occlusion</c:v>
                  </c:pt>
                  <c:pt idx="2">
                    <c:v>ID Stability</c:v>
                  </c:pt>
                  <c:pt idx="3">
                    <c:v>Setup simplicity</c:v>
                  </c:pt>
                  <c:pt idx="4">
                    <c:v>Demo fit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</c:v>
                </c:pt>
                <c:pt idx="1">
                  <c:v>8</c:v>
                </c:pt>
                <c:pt idx="2">
                  <c:v>8</c:v>
                </c:pt>
                <c:pt idx="3">
                  <c:v>5</c:v>
                </c:pt>
                <c:pt idx="4">
                  <c:v>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ByteTrack</c:v>
                </c:pt>
              </c:strCache>
            </c:strRef>
          </c:tx>
          <c:spPr>
            <a:solidFill>
              <a:srgbClr val="FF6B35"/>
            </a:solidFill>
            <a:ln w="25400" cap="flat">
              <a:solidFill>
                <a:srgbClr val="FF6B35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FF6B35"/>
              </a:solidFill>
              <a:ln w="9525" cap="flat">
                <a:solidFill>
                  <a:srgbClr val="FF6B3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Speed</c:v>
                  </c:pt>
                  <c:pt idx="1">
                    <c:v>Occlusion</c:v>
                  </c:pt>
                  <c:pt idx="2">
                    <c:v>ID Stability</c:v>
                  </c:pt>
                  <c:pt idx="3">
                    <c:v>Setup simplicity</c:v>
                  </c:pt>
                  <c:pt idx="4">
                    <c:v>Demo fit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8</c:v>
                </c:pt>
                <c:pt idx="1">
                  <c:v>8</c:v>
                </c:pt>
                <c:pt idx="2">
                  <c:v>8</c:v>
                </c:pt>
                <c:pt idx="3">
                  <c:v>8</c:v>
                </c:pt>
                <c:pt idx="4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AF6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DA6B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Streamlit fit</c:v>
                </c:pt>
              </c:strCache>
            </c:strRef>
          </c:tx>
          <c:spPr>
            <a:solidFill>
              <a:srgbClr val="00D4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UI speed</c:v>
                  </c:pt>
                  <c:pt idx="1">
                    <c:v>Built-in widgets</c:v>
                  </c:pt>
                  <c:pt idx="2">
                    <c:v>Live metrics</c:v>
                  </c:pt>
                  <c:pt idx="3">
                    <c:v>Video demo</c:v>
                  </c:pt>
                  <c:pt idx="4">
                    <c:v>API scalability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</c:v>
                </c:pt>
                <c:pt idx="1">
                  <c:v>9</c:v>
                </c:pt>
                <c:pt idx="2">
                  <c:v>9</c:v>
                </c:pt>
                <c:pt idx="3">
                  <c:v>8</c:v>
                </c:pt>
                <c:pt idx="4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FastAPI fit</c:v>
                </c:pt>
              </c:strCache>
            </c:strRef>
          </c:tx>
          <c:spPr>
            <a:solidFill>
              <a:srgbClr val="FF6B3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UI speed</c:v>
                  </c:pt>
                  <c:pt idx="1">
                    <c:v>Built-in widgets</c:v>
                  </c:pt>
                  <c:pt idx="2">
                    <c:v>Live metrics</c:v>
                  </c:pt>
                  <c:pt idx="3">
                    <c:v>Video demo</c:v>
                  </c:pt>
                  <c:pt idx="4">
                    <c:v>API scalability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</c:v>
                </c:pt>
                <c:pt idx="1">
                  <c:v>3</c:v>
                </c:pt>
                <c:pt idx="2">
                  <c:v>5</c:v>
                </c:pt>
                <c:pt idx="3">
                  <c:v>4</c:v>
                </c:pt>
                <c:pt idx="4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AF6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12700" cap="flat">
              <a:solidFill>
                <a:srgbClr val="24384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DA6B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>
              <a:alpha val="65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6B35">
              <a:alpha val="55000"/>
            </a:srgbClr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pic>
        <p:nvPicPr>
          <p:cNvPr id="5" name="Image 0" descr="/mnt/data/a_wide_cinematic_futuristic_surveillance_ai_moni.png">    </p:cNvPr>
          <p:cNvPicPr>
            <a:picLocks noChangeAspect="1"/>
          </p:cNvPicPr>
          <p:nvPr/>
        </p:nvPicPr>
        <p:blipFill>
          <a:blip r:embed="rId1"/>
          <a:srcRect l="22530" r="22530" t="0" b="0"/>
          <a:stretch/>
        </p:blipFill>
        <p:spPr>
          <a:xfrm>
            <a:off x="6126480" y="411480"/>
            <a:ext cx="5623560" cy="5760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1234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</a:rPr>
              <a:t>YOLO26m + ByteTrack + Streamlit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94360" y="1691640"/>
            <a:ext cx="5257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AF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Selective Object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EAF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Tracking System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21792" y="33375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8DA6BC"/>
                </a:solidFill>
              </a:rPr>
              <a:t>Real-time detection, persistent IDs, class filtering, live dashboard, and processed video export.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21792" y="4251960"/>
            <a:ext cx="5120640" cy="502920"/>
          </a:xfrm>
          <a:prstGeom prst="rect">
            <a:avLst/>
          </a:prstGeom>
          <a:solidFill>
            <a:srgbClr val="0E2236"/>
          </a:solidFill>
          <a:ln w="12700">
            <a:solidFill>
              <a:srgbClr val="00D4FF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Computer Vision • Multi-Object Tracking • Interactive Dashboard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64922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7890"/>
                </a:solidFill>
              </a:rPr>
              <a:t>Selective Object Tracking System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7890"/>
                </a:solidFill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>
              <a:alpha val="65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6B35">
              <a:alpha val="55000"/>
            </a:srgbClr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21208" y="7498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A6BC"/>
                </a:solidFill>
              </a:rPr>
              <a:t>What the system solves and what it delivers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234440"/>
            <a:ext cx="1965960" cy="5029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187452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Videos and webcam streams contain multiple moving objects. The system needs to detect the target classes, keep stable IDs across frames, and give the user live control.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794760" y="1234440"/>
            <a:ext cx="1965960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13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794760" y="18745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Python/OpenCV pipeline powered by YOLO26m for detection, ByteTrack for ID persistence, and Streamlit for an interactive tracking dashboard.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60920" y="1234440"/>
            <a:ext cx="1965960" cy="50292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60920" y="187452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tracking view with FPS monitor, tracked object count, progress bar, class filters, start/stop controls, and saved output video.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4360" y="4069080"/>
            <a:ext cx="2011680" cy="411480"/>
          </a:xfrm>
          <a:prstGeom prst="rect">
            <a:avLst/>
          </a:prstGeom>
          <a:solidFill>
            <a:srgbClr val="0E2236"/>
          </a:solidFill>
          <a:ln w="12700">
            <a:solidFill>
              <a:srgbClr val="24496A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Features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4663440"/>
            <a:ext cx="1060704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AF6FF"/>
                </a:solidFill>
              </a:rPr>
              <a:t>• Upload video or use webcam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AF6FF"/>
                </a:solidFill>
              </a:rPr>
              <a:t>• Track persons, cars, trucks, buses, motorcycles, or all classes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AF6FF"/>
                </a:solidFill>
              </a:rPr>
              <a:t>• Pause/resume processing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AF6FF"/>
                </a:solidFill>
              </a:rPr>
              <a:t>• Save processed output video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02920" y="64922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7890"/>
                </a:solidFill>
              </a:rPr>
              <a:t>Selective Object Tracking System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7890"/>
                </a:solidFill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>
              <a:alpha val="65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6B35">
              <a:alpha val="55000"/>
            </a:srgbClr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Flow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21208" y="7498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A6BC"/>
                </a:solidFill>
              </a:rPr>
              <a:t>From video source to tracked output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20240" y="2743200"/>
            <a:ext cx="411480" cy="0"/>
          </a:xfrm>
          <a:prstGeom prst="line">
            <a:avLst/>
          </a:prstGeom>
          <a:noFill/>
          <a:ln w="20320">
            <a:solidFill>
              <a:srgbClr val="00D4FF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840480" y="2743200"/>
            <a:ext cx="502920" cy="0"/>
          </a:xfrm>
          <a:prstGeom prst="line">
            <a:avLst/>
          </a:prstGeom>
          <a:noFill/>
          <a:ln w="20320">
            <a:solidFill>
              <a:srgbClr val="00D4F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852160" y="2743200"/>
            <a:ext cx="502920" cy="0"/>
          </a:xfrm>
          <a:prstGeom prst="line">
            <a:avLst/>
          </a:prstGeom>
          <a:noFill/>
          <a:ln w="20320">
            <a:solidFill>
              <a:srgbClr val="FF6B3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863840" y="2743200"/>
            <a:ext cx="502920" cy="0"/>
          </a:xfrm>
          <a:prstGeom prst="line">
            <a:avLst/>
          </a:prstGeom>
          <a:noFill/>
          <a:ln w="20320">
            <a:solidFill>
              <a:srgbClr val="00D4FF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875520" y="2743200"/>
            <a:ext cx="274320" cy="0"/>
          </a:xfrm>
          <a:prstGeom prst="line">
            <a:avLst/>
          </a:prstGeom>
          <a:noFill/>
          <a:ln w="20320">
            <a:solidFill>
              <a:srgbClr val="00D4FF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02920" y="2331720"/>
            <a:ext cx="1417320" cy="822960"/>
          </a:xfrm>
          <a:prstGeom prst="rect">
            <a:avLst/>
          </a:prstGeom>
          <a:solidFill>
            <a:srgbClr val="111E32"/>
          </a:solidFill>
          <a:ln w="12700">
            <a:solidFill>
              <a:srgbClr val="00D4FF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Video/Webcam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423160" y="2331720"/>
            <a:ext cx="1417320" cy="822960"/>
          </a:xfrm>
          <a:prstGeom prst="rect">
            <a:avLst/>
          </a:prstGeom>
          <a:solidFill>
            <a:srgbClr val="111E32"/>
          </a:solidFill>
          <a:ln w="12700">
            <a:solidFill>
              <a:srgbClr val="00D4FF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OpenCV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 Capture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34840" y="2331720"/>
            <a:ext cx="1417320" cy="822960"/>
          </a:xfrm>
          <a:prstGeom prst="rect">
            <a:avLst/>
          </a:prstGeom>
          <a:solidFill>
            <a:srgbClr val="0E2236"/>
          </a:solidFill>
          <a:ln w="12700">
            <a:solidFill>
              <a:srgbClr val="00D4FF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YOLO26m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46520" y="2331720"/>
            <a:ext cx="1417320" cy="822960"/>
          </a:xfrm>
          <a:prstGeom prst="rect">
            <a:avLst/>
          </a:prstGeom>
          <a:solidFill>
            <a:srgbClr val="111E32"/>
          </a:solidFill>
          <a:ln w="12700">
            <a:solidFill>
              <a:srgbClr val="FF6B35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ByteTrack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Association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58200" y="2331720"/>
            <a:ext cx="1417320" cy="822960"/>
          </a:xfrm>
          <a:prstGeom prst="rect">
            <a:avLst/>
          </a:prstGeom>
          <a:solidFill>
            <a:srgbClr val="111E32"/>
          </a:solidFill>
          <a:ln w="12700">
            <a:solidFill>
              <a:srgbClr val="00D4FF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Filters +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Visualization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241280" y="2331720"/>
            <a:ext cx="1417320" cy="822960"/>
          </a:xfrm>
          <a:prstGeom prst="rect">
            <a:avLst/>
          </a:prstGeom>
          <a:solidFill>
            <a:srgbClr val="111E32"/>
          </a:solidFill>
          <a:ln w="12700">
            <a:solidFill>
              <a:srgbClr val="00D4FF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Streamlit UI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Output MP4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069080" y="3703320"/>
            <a:ext cx="2423160" cy="566928"/>
          </a:xfrm>
          <a:prstGeom prst="rect">
            <a:avLst/>
          </a:prstGeom>
          <a:solidFill>
            <a:srgbClr val="0E2236"/>
          </a:solidFill>
          <a:ln w="12700">
            <a:solidFill>
              <a:srgbClr val="00D4FF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Detection outputs: bounding boxes, class IDs, confidence scores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46520" y="4526280"/>
            <a:ext cx="2423160" cy="566928"/>
          </a:xfrm>
          <a:prstGeom prst="rect">
            <a:avLst/>
          </a:prstGeom>
          <a:solidFill>
            <a:srgbClr val="0E2236"/>
          </a:solidFill>
          <a:ln w="12700">
            <a:solidFill>
              <a:srgbClr val="FF6B35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Tracking outputs: unique IDs, matched tracks, object persistence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257800" y="3154680"/>
            <a:ext cx="0" cy="548640"/>
          </a:xfrm>
          <a:prstGeom prst="line">
            <a:avLst/>
          </a:prstGeom>
          <a:noFill/>
          <a:ln w="20320">
            <a:solidFill>
              <a:srgbClr val="00D4FF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223760" y="3154680"/>
            <a:ext cx="91440" cy="1371600"/>
          </a:xfrm>
          <a:prstGeom prst="line">
            <a:avLst/>
          </a:prstGeom>
          <a:noFill/>
          <a:ln w="20320">
            <a:solidFill>
              <a:srgbClr val="FF6B35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685800" y="5394960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D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architecture is intentionally simple: each frame is processed once, detections are passed directly into the tracker, then rendered and streamed back to the dashboard.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02920" y="64922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7890"/>
                </a:solidFill>
              </a:rPr>
              <a:t>Selective Object Tracking System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7890"/>
                </a:solidFill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>
              <a:alpha val="65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6B35">
              <a:alpha val="55000"/>
            </a:srgbClr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Frame Processing Pipeline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21208" y="7498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A6BC"/>
                </a:solidFill>
              </a:rPr>
              <a:t>One frame enters; a tracked frame leaves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502920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2057400"/>
            <a:ext cx="1874520" cy="1417320"/>
          </a:xfrm>
          <a:prstGeom prst="rect">
            <a:avLst/>
          </a:prstGeom>
          <a:solidFill>
            <a:srgbClr val="111E32"/>
          </a:solidFill>
          <a:ln w="12700">
            <a:solidFill>
              <a:srgbClr val="24496A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Frame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OpenCV captures the next frame.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468880" y="2743200"/>
            <a:ext cx="274320" cy="0"/>
          </a:xfrm>
          <a:prstGeom prst="line">
            <a:avLst/>
          </a:prstGeom>
          <a:noFill/>
          <a:ln w="20320">
            <a:solidFill>
              <a:srgbClr val="00D4FF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898648" y="1417320"/>
            <a:ext cx="502920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898648" y="2057400"/>
            <a:ext cx="1874520" cy="1417320"/>
          </a:xfrm>
          <a:prstGeom prst="rect">
            <a:avLst/>
          </a:prstGeom>
          <a:solidFill>
            <a:srgbClr val="111E32"/>
          </a:solidFill>
          <a:ln w="12700">
            <a:solidFill>
              <a:srgbClr val="24496A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 Objects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YOLO26m returns boxes, scores, classes.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73168" y="2743200"/>
            <a:ext cx="274320" cy="0"/>
          </a:xfrm>
          <a:prstGeom prst="line">
            <a:avLst/>
          </a:prstGeom>
          <a:noFill/>
          <a:ln w="20320">
            <a:solidFill>
              <a:srgbClr val="00D4FF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202936" y="1417320"/>
            <a:ext cx="502920" cy="5029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202936" y="2057400"/>
            <a:ext cx="1874520" cy="1417320"/>
          </a:xfrm>
          <a:prstGeom prst="rect">
            <a:avLst/>
          </a:prstGeom>
          <a:solidFill>
            <a:srgbClr val="111E32"/>
          </a:solidFill>
          <a:ln w="12700">
            <a:solidFill>
              <a:srgbClr val="24496A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IDs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ByteTrack links detections to existing tracks.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077456" y="2743200"/>
            <a:ext cx="274320" cy="0"/>
          </a:xfrm>
          <a:prstGeom prst="line">
            <a:avLst/>
          </a:prstGeom>
          <a:noFill/>
          <a:ln w="20320">
            <a:solidFill>
              <a:srgbClr val="00D4FF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507224" y="1417320"/>
            <a:ext cx="502920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507224" y="2057400"/>
            <a:ext cx="1874520" cy="1417320"/>
          </a:xfrm>
          <a:prstGeom prst="rect">
            <a:avLst/>
          </a:prstGeom>
          <a:solidFill>
            <a:srgbClr val="111E32"/>
          </a:solidFill>
          <a:ln w="12700">
            <a:solidFill>
              <a:srgbClr val="24496A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 Targets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filters and selected IDs are applied.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381744" y="2743200"/>
            <a:ext cx="274320" cy="0"/>
          </a:xfrm>
          <a:prstGeom prst="line">
            <a:avLst/>
          </a:prstGeom>
          <a:noFill/>
          <a:ln w="20320">
            <a:solidFill>
              <a:srgbClr val="00D4FF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9811512" y="1417320"/>
            <a:ext cx="502920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811512" y="2057400"/>
            <a:ext cx="1874520" cy="1417320"/>
          </a:xfrm>
          <a:prstGeom prst="rect">
            <a:avLst/>
          </a:prstGeom>
          <a:solidFill>
            <a:srgbClr val="111E32"/>
          </a:solidFill>
          <a:ln w="12700">
            <a:solidFill>
              <a:srgbClr val="24496A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Render + Save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Boxes, IDs, FPS, and output video are written.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4572000"/>
            <a:ext cx="2286000" cy="548640"/>
          </a:xfrm>
          <a:prstGeom prst="rect">
            <a:avLst/>
          </a:prstGeom>
          <a:solidFill>
            <a:srgbClr val="0E2236"/>
          </a:solidFill>
          <a:ln w="12700">
            <a:solidFill>
              <a:srgbClr val="39FF14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metrics loop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749040" y="4572000"/>
            <a:ext cx="1737360" cy="548640"/>
          </a:xfrm>
          <a:prstGeom prst="rect">
            <a:avLst/>
          </a:prstGeom>
          <a:solidFill>
            <a:srgbClr val="0E2236"/>
          </a:solidFill>
          <a:ln w="12700">
            <a:solidFill>
              <a:srgbClr val="39FF14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FPS monitor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897880" y="4572000"/>
            <a:ext cx="1737360" cy="548640"/>
          </a:xfrm>
          <a:prstGeom prst="rect">
            <a:avLst/>
          </a:prstGeom>
          <a:solidFill>
            <a:srgbClr val="0E2236"/>
          </a:solidFill>
          <a:ln w="12700">
            <a:solidFill>
              <a:srgbClr val="39FF14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 count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046720" y="4572000"/>
            <a:ext cx="1737360" cy="548640"/>
          </a:xfrm>
          <a:prstGeom prst="rect">
            <a:avLst/>
          </a:prstGeom>
          <a:solidFill>
            <a:srgbClr val="0E2236"/>
          </a:solidFill>
          <a:ln w="12700">
            <a:solidFill>
              <a:srgbClr val="39FF14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 bar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291840" y="4846320"/>
            <a:ext cx="457200" cy="0"/>
          </a:xfrm>
          <a:prstGeom prst="line">
            <a:avLst/>
          </a:prstGeom>
          <a:noFill/>
          <a:ln w="20320">
            <a:solidFill>
              <a:srgbClr val="39FF14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486400" y="4846320"/>
            <a:ext cx="411480" cy="0"/>
          </a:xfrm>
          <a:prstGeom prst="line">
            <a:avLst/>
          </a:prstGeom>
          <a:noFill/>
          <a:ln w="20320">
            <a:solidFill>
              <a:srgbClr val="39FF14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635240" y="4846320"/>
            <a:ext cx="411480" cy="0"/>
          </a:xfrm>
          <a:prstGeom prst="line">
            <a:avLst/>
          </a:prstGeom>
          <a:noFill/>
          <a:ln w="20320">
            <a:solidFill>
              <a:srgbClr val="39FF14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822960" y="571500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pipeline supports both uploaded video files and live webcam streams while keeping the UI responsive enough for project demonstration.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02920" y="64922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7890"/>
                </a:solidFill>
              </a:rPr>
              <a:t>Selective Object Tracking System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7890"/>
                </a:solidFill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>
              <a:alpha val="65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6B35">
              <a:alpha val="55000"/>
            </a:srgbClr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Codebase Structure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21208" y="7498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A6BC"/>
                </a:solidFill>
              </a:rPr>
              <a:t>Separation of concerns keeps the project easy to explain and extend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325880"/>
            <a:ext cx="5029200" cy="438912"/>
          </a:xfrm>
          <a:prstGeom prst="rect">
            <a:avLst/>
          </a:prstGeom>
          <a:solidFill>
            <a:srgbClr val="0E2236"/>
          </a:solidFill>
          <a:ln w="12700">
            <a:solidFill>
              <a:srgbClr val="00D4FF"/>
            </a:solidFill>
          </a:ln>
        </p:spPr>
        <p:txBody>
          <a:bodyPr wrap="square" lIns="1778" tIns="1778" rIns="1778" bIns="1778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configs/config.py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856232"/>
            <a:ext cx="5029200" cy="502920"/>
          </a:xfrm>
          <a:prstGeom prst="rect">
            <a:avLst/>
          </a:prstGeom>
          <a:solidFill>
            <a:srgbClr val="111E32"/>
          </a:solidFill>
          <a:ln w="12700">
            <a:solidFill>
              <a:srgbClr val="24496A"/>
            </a:solidFill>
          </a:ln>
        </p:spPr>
        <p:txBody>
          <a:bodyPr wrap="square" lIns="1778" tIns="1778" rIns="1778" bIns="1778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 parameters and runtime settings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55080" y="1325880"/>
            <a:ext cx="5029200" cy="438912"/>
          </a:xfrm>
          <a:prstGeom prst="rect">
            <a:avLst/>
          </a:prstGeom>
          <a:solidFill>
            <a:srgbClr val="0E2236"/>
          </a:solidFill>
          <a:ln w="12700">
            <a:solidFill>
              <a:srgbClr val="00D4FF"/>
            </a:solidFill>
          </a:ln>
        </p:spPr>
        <p:txBody>
          <a:bodyPr wrap="square" lIns="1778" tIns="1778" rIns="1778" bIns="1778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detection/detector.py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55080" y="1856232"/>
            <a:ext cx="5029200" cy="502920"/>
          </a:xfrm>
          <a:prstGeom prst="rect">
            <a:avLst/>
          </a:prstGeom>
          <a:solidFill>
            <a:srgbClr val="111E32"/>
          </a:solidFill>
          <a:ln w="12700">
            <a:solidFill>
              <a:srgbClr val="24496A"/>
            </a:solidFill>
          </a:ln>
        </p:spPr>
        <p:txBody>
          <a:bodyPr wrap="square" lIns="1778" tIns="1778" rIns="1778" bIns="1778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YOLO model loading and frame-level detection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697480"/>
            <a:ext cx="5029200" cy="438912"/>
          </a:xfrm>
          <a:prstGeom prst="rect">
            <a:avLst/>
          </a:prstGeom>
          <a:solidFill>
            <a:srgbClr val="0E2236"/>
          </a:solidFill>
          <a:ln w="12700">
            <a:solidFill>
              <a:srgbClr val="00D4FF"/>
            </a:solidFill>
          </a:ln>
        </p:spPr>
        <p:txBody>
          <a:bodyPr wrap="square" lIns="1778" tIns="1778" rIns="1778" bIns="1778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tracker/tracking.py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3227832"/>
            <a:ext cx="5029200" cy="502920"/>
          </a:xfrm>
          <a:prstGeom prst="rect">
            <a:avLst/>
          </a:prstGeom>
          <a:solidFill>
            <a:srgbClr val="111E32"/>
          </a:solidFill>
          <a:ln w="12700">
            <a:solidFill>
              <a:srgbClr val="24496A"/>
            </a:solidFill>
          </a:ln>
        </p:spPr>
        <p:txBody>
          <a:bodyPr wrap="square" lIns="1778" tIns="1778" rIns="1778" bIns="1778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Tracker configuration and object ID association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55080" y="2697480"/>
            <a:ext cx="5029200" cy="438912"/>
          </a:xfrm>
          <a:prstGeom prst="rect">
            <a:avLst/>
          </a:prstGeom>
          <a:solidFill>
            <a:srgbClr val="0E2236"/>
          </a:solidFill>
          <a:ln w="12700">
            <a:solidFill>
              <a:srgbClr val="00D4FF"/>
            </a:solidFill>
          </a:ln>
        </p:spPr>
        <p:txBody>
          <a:bodyPr wrap="square" lIns="1778" tIns="1778" rIns="1778" bIns="1778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pipeline.py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55080" y="3227832"/>
            <a:ext cx="5029200" cy="502920"/>
          </a:xfrm>
          <a:prstGeom prst="rect">
            <a:avLst/>
          </a:prstGeom>
          <a:solidFill>
            <a:srgbClr val="111E32"/>
          </a:solidFill>
          <a:ln w="12700">
            <a:solidFill>
              <a:srgbClr val="24496A"/>
            </a:solidFill>
          </a:ln>
        </p:spPr>
        <p:txBody>
          <a:bodyPr wrap="square" lIns="1778" tIns="1778" rIns="1778" bIns="1778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processing orchestration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4069080"/>
            <a:ext cx="5029200" cy="438912"/>
          </a:xfrm>
          <a:prstGeom prst="rect">
            <a:avLst/>
          </a:prstGeom>
          <a:solidFill>
            <a:srgbClr val="0E2236"/>
          </a:solidFill>
          <a:ln w="12700">
            <a:solidFill>
              <a:srgbClr val="00D4FF"/>
            </a:solidFill>
          </a:ln>
        </p:spPr>
        <p:txBody>
          <a:bodyPr wrap="square" lIns="1778" tIns="1778" rIns="1778" bIns="1778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ui/streamlit_app.py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" y="4599432"/>
            <a:ext cx="5029200" cy="502920"/>
          </a:xfrm>
          <a:prstGeom prst="rect">
            <a:avLst/>
          </a:prstGeom>
          <a:solidFill>
            <a:srgbClr val="111E32"/>
          </a:solidFill>
          <a:ln w="12700">
            <a:solidFill>
              <a:srgbClr val="24496A"/>
            </a:solidFill>
          </a:ln>
        </p:spPr>
        <p:txBody>
          <a:bodyPr wrap="square" lIns="1778" tIns="1778" rIns="1778" bIns="1778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dashboard and user controls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55080" y="4069080"/>
            <a:ext cx="5029200" cy="438912"/>
          </a:xfrm>
          <a:prstGeom prst="rect">
            <a:avLst/>
          </a:prstGeom>
          <a:solidFill>
            <a:srgbClr val="0E2236"/>
          </a:solidFill>
          <a:ln w="12700">
            <a:solidFill>
              <a:srgbClr val="00D4FF"/>
            </a:solidFill>
          </a:ln>
        </p:spPr>
        <p:txBody>
          <a:bodyPr wrap="square" lIns="1778" tIns="1778" rIns="1778" bIns="1778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outputs/output.mp4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55080" y="4599432"/>
            <a:ext cx="5029200" cy="502920"/>
          </a:xfrm>
          <a:prstGeom prst="rect">
            <a:avLst/>
          </a:prstGeom>
          <a:solidFill>
            <a:srgbClr val="111E32"/>
          </a:solidFill>
          <a:ln w="12700">
            <a:solidFill>
              <a:srgbClr val="24496A"/>
            </a:solidFill>
          </a:ln>
        </p:spPr>
        <p:txBody>
          <a:bodyPr wrap="square" lIns="1778" tIns="1778" rIns="1778" bIns="1778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Saved processed tracking result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57150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principle: keep the detector, tracker, pipeline, and UI independent so future upgrades can be introduced without rewriting the whole system.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" y="64922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7890"/>
                </a:solidFill>
              </a:rPr>
              <a:t>Selective Object Tracking System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7890"/>
                </a:solidFill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>
              <a:alpha val="65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6B35">
              <a:alpha val="55000"/>
            </a:srgbClr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YOLO26m?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21208" y="7498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A6BC"/>
                </a:solidFill>
              </a:rPr>
              <a:t>The medium model sits at the best project trade-off point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417320"/>
            <a:ext cx="6263640" cy="4069080"/>
          </a:xfrm>
          <a:prstGeom prst="rect">
            <a:avLst/>
          </a:prstGeom>
          <a:solidFill>
            <a:srgbClr val="0A1525"/>
          </a:solidFill>
          <a:ln w="12700">
            <a:solidFill>
              <a:srgbClr val="24496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417320"/>
            <a:ext cx="0" cy="4069080"/>
          </a:xfrm>
          <a:prstGeom prst="line">
            <a:avLst/>
          </a:prstGeom>
          <a:noFill/>
          <a:ln w="7620">
            <a:solidFill>
              <a:srgbClr val="24384E">
                <a:alpha val="5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38528" y="1417320"/>
            <a:ext cx="0" cy="4069080"/>
          </a:xfrm>
          <a:prstGeom prst="line">
            <a:avLst/>
          </a:prstGeom>
          <a:noFill/>
          <a:ln w="7620">
            <a:solidFill>
              <a:srgbClr val="24384E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91256" y="1417320"/>
            <a:ext cx="0" cy="4069080"/>
          </a:xfrm>
          <a:prstGeom prst="line">
            <a:avLst/>
          </a:prstGeom>
          <a:noFill/>
          <a:ln w="7620">
            <a:solidFill>
              <a:srgbClr val="24384E">
                <a:alpha val="5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43984" y="1417320"/>
            <a:ext cx="0" cy="4069080"/>
          </a:xfrm>
          <a:prstGeom prst="line">
            <a:avLst/>
          </a:prstGeom>
          <a:noFill/>
          <a:ln w="7620">
            <a:solidFill>
              <a:srgbClr val="24384E">
                <a:alpha val="5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96712" y="1417320"/>
            <a:ext cx="0" cy="4069080"/>
          </a:xfrm>
          <a:prstGeom prst="line">
            <a:avLst/>
          </a:prstGeom>
          <a:noFill/>
          <a:ln w="7620">
            <a:solidFill>
              <a:srgbClr val="24384E">
                <a:alpha val="5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49440" y="1417320"/>
            <a:ext cx="0" cy="4069080"/>
          </a:xfrm>
          <a:prstGeom prst="line">
            <a:avLst/>
          </a:prstGeom>
          <a:noFill/>
          <a:ln w="7620">
            <a:solidFill>
              <a:srgbClr val="24384E">
                <a:alpha val="5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1417320"/>
            <a:ext cx="6263640" cy="0"/>
          </a:xfrm>
          <a:prstGeom prst="line">
            <a:avLst/>
          </a:prstGeom>
          <a:noFill/>
          <a:ln w="7620">
            <a:solidFill>
              <a:srgbClr val="24384E">
                <a:alpha val="5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2434590"/>
            <a:ext cx="6263640" cy="0"/>
          </a:xfrm>
          <a:prstGeom prst="line">
            <a:avLst/>
          </a:prstGeom>
          <a:noFill/>
          <a:ln w="7620">
            <a:solidFill>
              <a:srgbClr val="24384E">
                <a:alpha val="5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3451860"/>
            <a:ext cx="6263640" cy="0"/>
          </a:xfrm>
          <a:prstGeom prst="line">
            <a:avLst/>
          </a:prstGeom>
          <a:noFill/>
          <a:ln w="7620">
            <a:solidFill>
              <a:srgbClr val="24384E">
                <a:alpha val="5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4469130"/>
            <a:ext cx="6263640" cy="0"/>
          </a:xfrm>
          <a:prstGeom prst="line">
            <a:avLst/>
          </a:prstGeom>
          <a:noFill/>
          <a:ln w="7620">
            <a:solidFill>
              <a:srgbClr val="24384E">
                <a:alpha val="5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5486400"/>
            <a:ext cx="6263640" cy="0"/>
          </a:xfrm>
          <a:prstGeom prst="line">
            <a:avLst/>
          </a:prstGeom>
          <a:noFill/>
          <a:ln w="7620">
            <a:solidFill>
              <a:srgbClr val="24384E">
                <a:alpha val="5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80360" y="57607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 val 50–95 →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3232" y="112471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Latency ↑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466403" y="4869913"/>
            <a:ext cx="168752" cy="168752"/>
          </a:xfrm>
          <a:prstGeom prst="ellipse">
            <a:avLst/>
          </a:prstGeom>
          <a:solidFill>
            <a:srgbClr val="5D7890">
              <a:alpha val="80000"/>
            </a:srgbClr>
          </a:solidFill>
          <a:ln w="15240">
            <a:solidFill>
              <a:srgbClr val="5D78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23931" y="488113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733867" y="4590305"/>
            <a:ext cx="227160" cy="227160"/>
          </a:xfrm>
          <a:prstGeom prst="ellipse">
            <a:avLst/>
          </a:prstGeom>
          <a:solidFill>
            <a:srgbClr val="00A3C8">
              <a:alpha val="80000"/>
            </a:srgbClr>
          </a:solidFill>
          <a:ln w="15240">
            <a:solidFill>
              <a:srgbClr val="00A3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20599" y="4630733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48750" y="3874365"/>
            <a:ext cx="281812" cy="281812"/>
          </a:xfrm>
          <a:prstGeom prst="ellipse">
            <a:avLst/>
          </a:prstGeom>
          <a:solidFill>
            <a:srgbClr val="FF6B35">
              <a:alpha val="95000"/>
            </a:srgbClr>
          </a:solidFill>
          <a:ln w="15240">
            <a:solidFill>
              <a:srgbClr val="FF6B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62807" y="3942119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06633" y="3396030"/>
            <a:ext cx="299464" cy="299464"/>
          </a:xfrm>
          <a:prstGeom prst="ellipse">
            <a:avLst/>
          </a:prstGeom>
          <a:solidFill>
            <a:srgbClr val="FFCC00">
              <a:alpha val="80000"/>
            </a:srgbClr>
          </a:solidFill>
          <a:ln w="15240">
            <a:solidFill>
              <a:srgbClr val="FFCC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29518" y="347261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304998" y="1595889"/>
            <a:ext cx="394078" cy="394078"/>
          </a:xfrm>
          <a:prstGeom prst="ellipse">
            <a:avLst/>
          </a:prstGeom>
          <a:solidFill>
            <a:srgbClr val="39FF14">
              <a:alpha val="80000"/>
            </a:srgbClr>
          </a:solidFill>
          <a:ln w="15240">
            <a:solidFill>
              <a:srgbClr val="39FF1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75189" y="1719775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94360" y="55595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847088" y="55595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099816" y="55595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46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352544" y="55595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605272" y="55595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54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858000" y="55595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58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65760" y="541324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65760" y="439597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65760" y="337870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65760" y="236143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65760" y="134416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543800" y="1234440"/>
            <a:ext cx="3977640" cy="457200"/>
          </a:xfrm>
          <a:prstGeom prst="rect">
            <a:avLst/>
          </a:prstGeom>
          <a:solidFill>
            <a:srgbClr val="0E2236"/>
          </a:solidFill>
          <a:ln w="12700">
            <a:solidFill>
              <a:srgbClr val="24496A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not nano/small?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7543800" y="182880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are faster, but the accuracy headroom is lower for small or partially occluded objects.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7543800" y="2697480"/>
            <a:ext cx="3977640" cy="457200"/>
          </a:xfrm>
          <a:prstGeom prst="rect">
            <a:avLst/>
          </a:prstGeom>
          <a:solidFill>
            <a:srgbClr val="0E2236"/>
          </a:solidFill>
          <a:ln w="12700">
            <a:solidFill>
              <a:srgbClr val="24496A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not large/x?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7543800" y="329184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add latency and memory load that are unnecessary for a Streamlit real-time demo.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7543800" y="4160520"/>
            <a:ext cx="3977640" cy="4572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YOLO26m decision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7543800" y="4754880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53.1 mAP, 4.7 ms T4 latency, 20.4M params: strong detection quality without jumping to the heavier model family.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640080" y="589788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D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data: Ultralytics YOLO26 detection models on COCO val2017.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02920" y="64922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7890"/>
                </a:solidFill>
              </a:rPr>
              <a:t>Selective Object Tracking System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7890"/>
                </a:solidFill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>
              <a:alpha val="65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6B35">
              <a:alpha val="55000"/>
            </a:srgbClr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YOLO26m Selection Rationale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21208" y="7498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A6BC"/>
                </a:solidFill>
              </a:rPr>
              <a:t>Detection is the foundation of tracking stability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5029200" cy="5029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Balanced accuracy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04088" y="21488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 variant provides enough confidence for person and vehicle tracking without overloading the demo.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566160"/>
            <a:ext cx="5029200" cy="502920"/>
          </a:xfrm>
          <a:prstGeom prst="rect">
            <a:avLst/>
          </a:prstGeom>
          <a:solidFill>
            <a:srgbClr val="0E2236"/>
          </a:solidFill>
          <a:ln w="12700">
            <a:solidFill>
              <a:srgbClr val="00D4FF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Real-time bias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04088" y="429768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YOLO26 is optimized for lower-latency deployment with end-to-end NMS-free inference.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55080" y="1417320"/>
            <a:ext cx="5029200" cy="502920"/>
          </a:xfrm>
          <a:prstGeom prst="rect">
            <a:avLst/>
          </a:prstGeom>
          <a:solidFill>
            <a:srgbClr val="0E2236"/>
          </a:solidFill>
          <a:ln w="12700">
            <a:solidFill>
              <a:srgbClr val="00D4FF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COCO compatibility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373368" y="21488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Pretrained detection covers the required classes: person, car, truck, bus, motorcycle.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55080" y="3566160"/>
            <a:ext cx="5029200" cy="502920"/>
          </a:xfrm>
          <a:prstGeom prst="rect">
            <a:avLst/>
          </a:prstGeom>
          <a:solidFill>
            <a:srgbClr val="0E2236"/>
          </a:solidFill>
          <a:ln w="12700">
            <a:solidFill>
              <a:srgbClr val="00D4FF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integration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373368" y="429768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Ultralytics API makes loading, inference, validation, and export straightforward.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5760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D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Tracking quality depends on detection quality: missed boxes create broken tracks, ID switches, and weaker analytics.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02920" y="64922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7890"/>
                </a:solidFill>
              </a:rPr>
              <a:t>Selective Object Tracking System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7890"/>
                </a:solidFill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>
              <a:alpha val="65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6B35">
              <a:alpha val="55000"/>
            </a:srgbClr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ByteTrack over DeepSORT and SORT?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21208" y="7498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A6BC"/>
                </a:solidFill>
              </a:rPr>
              <a:t>Best fit for real-time selective tracking</a:t>
            </a:r>
            <a:endParaRPr lang="en-US" sz="11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94360" y="1234440"/>
          <a:ext cx="57607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6720840" y="1325880"/>
            <a:ext cx="4480560" cy="5029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ByteTrack advantage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720840" y="2103120"/>
            <a:ext cx="4480560" cy="3017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AF6FF"/>
                </a:solidFill>
              </a:rPr>
              <a:t>• Associates almost every detection, including low-score boxes, which helps recover partially occluded objects.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AF6FF"/>
                </a:solidFill>
              </a:rPr>
              <a:t>• Avoids the extra appearance embedding network used by DeepSORT, keeping the pipeline lighter.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AF6FF"/>
                </a:solidFill>
              </a:rPr>
              <a:t>• More robust than plain SORT when detections are temporarily weak or missing.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AF6FF"/>
                </a:solidFill>
              </a:rPr>
              <a:t>• Fits this project: real-time, class-filtered, dashboard-driven tracking.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720840" y="56692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D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Radar scores are qualitative project-fit scores, not benchmark metrics.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02920" y="64922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7890"/>
                </a:solidFill>
              </a:rPr>
              <a:t>Selective Object Tracking System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7890"/>
                </a:solidFill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>
              <a:alpha val="65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6B35">
              <a:alpha val="55000"/>
            </a:srgbClr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ByteTrack Association Flow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21208" y="7498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A6BC"/>
                </a:solidFill>
              </a:rPr>
              <a:t>How detections become stable object identities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0" y="1874520"/>
            <a:ext cx="1554480" cy="0"/>
          </a:xfrm>
          <a:prstGeom prst="line">
            <a:avLst/>
          </a:prstGeom>
          <a:noFill/>
          <a:ln w="20320">
            <a:solidFill>
              <a:srgbClr val="00D4FF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577840" y="1874520"/>
            <a:ext cx="1554480" cy="0"/>
          </a:xfrm>
          <a:prstGeom prst="line">
            <a:avLst/>
          </a:prstGeom>
          <a:noFill/>
          <a:ln w="20320">
            <a:solidFill>
              <a:srgbClr val="FF6B35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869680" y="1874520"/>
            <a:ext cx="1554480" cy="0"/>
          </a:xfrm>
          <a:prstGeom prst="line">
            <a:avLst/>
          </a:prstGeom>
          <a:noFill/>
          <a:ln w="20320">
            <a:solidFill>
              <a:srgbClr val="39FF14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063240" y="4251960"/>
            <a:ext cx="1554480" cy="0"/>
          </a:xfrm>
          <a:prstGeom prst="line">
            <a:avLst/>
          </a:prstGeom>
          <a:noFill/>
          <a:ln w="20320">
            <a:solidFill>
              <a:srgbClr val="00D4FF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355080" y="4251960"/>
            <a:ext cx="1554480" cy="0"/>
          </a:xfrm>
          <a:prstGeom prst="line">
            <a:avLst/>
          </a:prstGeom>
          <a:noFill/>
          <a:ln w="20320">
            <a:solidFill>
              <a:srgbClr val="FF6B35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685800" y="1417320"/>
            <a:ext cx="1600200" cy="914400"/>
          </a:xfrm>
          <a:prstGeom prst="rect">
            <a:avLst/>
          </a:prstGeom>
          <a:solidFill>
            <a:srgbClr val="0E2236"/>
          </a:solidFill>
          <a:ln w="12700">
            <a:solidFill>
              <a:srgbClr val="00D4FF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YOLO detections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(high + low scores)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40480" y="1417320"/>
            <a:ext cx="1737360" cy="914400"/>
          </a:xfrm>
          <a:prstGeom prst="rect">
            <a:avLst/>
          </a:prstGeom>
          <a:solidFill>
            <a:srgbClr val="111E32"/>
          </a:solidFill>
          <a:ln w="12700">
            <a:solidFill>
              <a:srgbClr val="00D4FF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 high-score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boxes to tracks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32320" y="1417320"/>
            <a:ext cx="1737360" cy="914400"/>
          </a:xfrm>
          <a:prstGeom prst="rect">
            <a:avLst/>
          </a:prstGeom>
          <a:solidFill>
            <a:srgbClr val="111E32"/>
          </a:solidFill>
          <a:ln w="12700">
            <a:solidFill>
              <a:srgbClr val="FF6B35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 true objects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low scores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424160" y="1417320"/>
            <a:ext cx="1371600" cy="914400"/>
          </a:xfrm>
          <a:prstGeom prst="rect">
            <a:avLst/>
          </a:prstGeom>
          <a:solidFill>
            <a:srgbClr val="0E2236"/>
          </a:solidFill>
          <a:ln w="12700">
            <a:solidFill>
              <a:srgbClr val="39FF14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 IDs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 object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3794760"/>
            <a:ext cx="1600200" cy="914400"/>
          </a:xfrm>
          <a:prstGeom prst="rect">
            <a:avLst/>
          </a:prstGeom>
          <a:solidFill>
            <a:srgbClr val="111E32"/>
          </a:solidFill>
          <a:ln w="12700">
            <a:solidFill>
              <a:srgbClr val="24496A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 background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false positives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17720" y="3794760"/>
            <a:ext cx="1737360" cy="914400"/>
          </a:xfrm>
          <a:prstGeom prst="rect">
            <a:avLst/>
          </a:prstGeom>
          <a:solidFill>
            <a:srgbClr val="111E32"/>
          </a:solidFill>
          <a:ln w="12700">
            <a:solidFill>
              <a:srgbClr val="24496A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tracklets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frames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909560" y="3794760"/>
            <a:ext cx="1737360" cy="914400"/>
          </a:xfrm>
          <a:prstGeom prst="rect">
            <a:avLst/>
          </a:prstGeom>
          <a:solidFill>
            <a:srgbClr val="111E32"/>
          </a:solidFill>
          <a:ln w="12700">
            <a:solidFill>
              <a:srgbClr val="24496A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Render ID + class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frame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557784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D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idea: do not throw away weak detections too early. Weak boxes can still be useful when they match an existing track.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02920" y="64922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7890"/>
                </a:solidFill>
              </a:rPr>
              <a:t>Selective Object Tracking System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7890"/>
                </a:solidFill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>
              <a:alpha val="65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6B35">
              <a:alpha val="55000"/>
            </a:srgbClr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Streamlit over FastAPI?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21208" y="7498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A6BC"/>
                </a:solidFill>
              </a:rPr>
              <a:t>The project needed a live product demo, not just a prediction endpoint</a:t>
            </a:r>
            <a:endParaRPr lang="en-US" sz="11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94360" y="1325880"/>
          <a:ext cx="566928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6720840" y="1325880"/>
            <a:ext cx="4526280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613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Streamlit was chosen because: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720840" y="2103120"/>
            <a:ext cx="4480560" cy="3017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AF6FF"/>
                </a:solidFill>
              </a:rPr>
              <a:t>• It turns Python scripts into interactive data apps quickly.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AF6FF"/>
                </a:solidFill>
              </a:rPr>
              <a:t>• It already provides sliders, buttons, file uploaders, progress bars, and metrics.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AF6FF"/>
                </a:solidFill>
              </a:rPr>
              <a:t>• It is ideal for showing the tracking pipeline live to evaluators.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AF6FF"/>
                </a:solidFill>
              </a:rPr>
              <a:t>• FastAPI is excellent for backend APIs, but it would need a separate frontend for this dashboard.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720840" y="55778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D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 scores are qualitative project-fit scores.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02920" y="64922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7890"/>
                </a:solidFill>
              </a:rPr>
              <a:t>Selective Object Tracking System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7890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>
              <a:alpha val="65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6B35">
              <a:alpha val="55000"/>
            </a:srgbClr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User Workflow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21208" y="7498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A6BC"/>
                </a:solidFill>
              </a:rPr>
              <a:t>The dashboard experience from start to output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502920" cy="5029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1874520" cy="502920"/>
          </a:xfrm>
          <a:prstGeom prst="rect">
            <a:avLst/>
          </a:prstGeom>
          <a:solidFill>
            <a:srgbClr val="0E2236"/>
          </a:solidFill>
          <a:ln w="12700">
            <a:solidFill>
              <a:srgbClr val="00D4FF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source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" y="27889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 video or select webcam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514600" y="2331720"/>
            <a:ext cx="246888" cy="0"/>
          </a:xfrm>
          <a:prstGeom prst="line">
            <a:avLst/>
          </a:prstGeom>
          <a:noFill/>
          <a:ln w="20320">
            <a:solidFill>
              <a:srgbClr val="00D4FF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2926080" y="1417320"/>
            <a:ext cx="502920" cy="5029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926080" y="2057400"/>
            <a:ext cx="1874520" cy="502920"/>
          </a:xfrm>
          <a:prstGeom prst="rect">
            <a:avLst/>
          </a:prstGeom>
          <a:solidFill>
            <a:srgbClr val="0E2236"/>
          </a:solidFill>
          <a:ln w="12700">
            <a:solidFill>
              <a:srgbClr val="00D4FF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class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944368" y="27889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Person, car, truck, bus, motorcycle, or all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00600" y="2331720"/>
            <a:ext cx="246888" cy="0"/>
          </a:xfrm>
          <a:prstGeom prst="line">
            <a:avLst/>
          </a:prstGeom>
          <a:noFill/>
          <a:ln w="20320">
            <a:solidFill>
              <a:srgbClr val="00D4FF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5212080" y="1417320"/>
            <a:ext cx="502920" cy="5029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212080" y="2057400"/>
            <a:ext cx="1874520" cy="502920"/>
          </a:xfrm>
          <a:prstGeom prst="rect">
            <a:avLst/>
          </a:prstGeom>
          <a:solidFill>
            <a:srgbClr val="0E2236"/>
          </a:solidFill>
          <a:ln w="12700">
            <a:solidFill>
              <a:srgbClr val="00D4FF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tracking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230368" y="27889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frame processing begins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086600" y="2331720"/>
            <a:ext cx="246888" cy="0"/>
          </a:xfrm>
          <a:prstGeom prst="line">
            <a:avLst/>
          </a:prstGeom>
          <a:noFill/>
          <a:ln w="20320">
            <a:solidFill>
              <a:srgbClr val="00D4FF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7498080" y="1417320"/>
            <a:ext cx="502920" cy="5029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498080" y="2057400"/>
            <a:ext cx="1874520" cy="502920"/>
          </a:xfrm>
          <a:prstGeom prst="rect">
            <a:avLst/>
          </a:prstGeom>
          <a:solidFill>
            <a:srgbClr val="0E2236"/>
          </a:solidFill>
          <a:ln w="12700">
            <a:solidFill>
              <a:srgbClr val="00D4FF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516368" y="27889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FPS, object count, progress, selected IDs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372600" y="2331720"/>
            <a:ext cx="246888" cy="0"/>
          </a:xfrm>
          <a:prstGeom prst="line">
            <a:avLst/>
          </a:prstGeom>
          <a:noFill/>
          <a:ln w="20320">
            <a:solidFill>
              <a:srgbClr val="00D4FF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9784080" y="1417320"/>
            <a:ext cx="502920" cy="5029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784080" y="2057400"/>
            <a:ext cx="1874520" cy="502920"/>
          </a:xfrm>
          <a:prstGeom prst="rect">
            <a:avLst/>
          </a:prstGeom>
          <a:solidFill>
            <a:srgbClr val="0E2236"/>
          </a:solidFill>
          <a:ln w="12700">
            <a:solidFill>
              <a:srgbClr val="00D4FF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802368" y="27889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Processed output saved to outputs/output.mp4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2960" y="4572000"/>
            <a:ext cx="2286000" cy="502920"/>
          </a:xfrm>
          <a:prstGeom prst="rect">
            <a:avLst/>
          </a:prstGeom>
          <a:solidFill>
            <a:srgbClr val="0E2236"/>
          </a:solidFill>
          <a:ln w="12700">
            <a:solidFill>
              <a:srgbClr val="39FF14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value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429000" y="46177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8D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UI reduces technical friction: users do not need to run scripts manually or inspect terminal logs to understand performance.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02920" y="64922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7890"/>
                </a:solidFill>
              </a:rPr>
              <a:t>Selective Object Tracking System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7890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>
              <a:alpha val="65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6B35">
              <a:alpha val="55000"/>
            </a:srgbClr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Summary + Roadmap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21208" y="7498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A6BC"/>
                </a:solidFill>
              </a:rPr>
              <a:t>Current value and next improvements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234440"/>
            <a:ext cx="4937760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613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System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49808" y="1965960"/>
            <a:ext cx="4800600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AF6FF"/>
                </a:solidFill>
              </a:rPr>
              <a:t>• Real-time YOLO detection with persistent object IDs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AF6FF"/>
                </a:solidFill>
              </a:rPr>
              <a:t>• Selectable classes and specific object tracking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AF6FF"/>
                </a:solidFill>
              </a:rPr>
              <a:t>• Live FPS, object count, progress, pause/resume controls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AF6FF"/>
                </a:solidFill>
              </a:rPr>
              <a:t>• Saved output video for reporting and review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46520" y="1234440"/>
            <a:ext cx="4937760" cy="5029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Improvements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64808" y="1965960"/>
            <a:ext cx="4800600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AF6FF"/>
                </a:solidFill>
              </a:rPr>
              <a:t>• RTSP/IP camera support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AF6FF"/>
                </a:solidFill>
              </a:rPr>
              <a:t>• Heatmaps and track history visualization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AF6FF"/>
                </a:solidFill>
              </a:rPr>
              <a:t>• Object counting analytics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AF6FF"/>
                </a:solidFill>
              </a:rPr>
              <a:t>• Multi-camera support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AF6FF"/>
                </a:solidFill>
              </a:rPr>
              <a:t>• GPU acceleration optimization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AF6FF"/>
                </a:solidFill>
              </a:rPr>
              <a:t>• Re-identification support when long occlusions matter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53949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final message: this design prioritizes real-time performance, clean demonstration, and understandable engineering decisions.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" y="64922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7890"/>
                </a:solidFill>
              </a:rPr>
              <a:t>Selective Object Tracking System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7890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>
              <a:alpha val="65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6B35">
              <a:alpha val="55000"/>
            </a:srgbClr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21208" y="7498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A6BC"/>
                </a:solidFill>
              </a:rPr>
              <a:t>Sources used for technical justification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0789920" cy="4800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AF6FF"/>
                </a:solidFill>
              </a:rPr>
              <a:t>• Project README: features, supported classes, structure, workflow, dashboard, and future improvements.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6FF"/>
                </a:solidFill>
              </a:rPr>
              <a:t>• Ultralytics YOLO26 docs: NMS-free inference, edge optimization, supported tasks, and usage examples.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6FF"/>
                </a:solidFill>
              </a:rPr>
              <a:t>• Ultralytics YOLO26 model table: COCO detection mAP, T4 TensorRT speed, parameters, FLOPs.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6FF"/>
                </a:solidFill>
              </a:rPr>
              <a:t>• ByteTrack paper: associating every detection box to reduce missed objects and fragmented trajectories.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6FF"/>
                </a:solidFill>
              </a:rPr>
              <a:t>• SORT paper: simple online realtime tracking baseline, detection quality dependency.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6FF"/>
                </a:solidFill>
              </a:rPr>
              <a:t>• Deep SORT paper/repository: adds deep appearance descriptor to improve identity consistency.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6FF"/>
                </a:solidFill>
              </a:rPr>
              <a:t>• Streamlit documentation: Python framework for interactive data apps with minimal front-end work.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6FF"/>
                </a:solidFill>
              </a:rPr>
              <a:t>• FastAPI documentation: high-performance Python framework for building APIs.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7890"/>
                </a:solidFill>
              </a:rPr>
              <a:t>Selective Object Tracking System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7890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Selective Object Tracking System Presentation</dc:title>
  <dc:subject>Multi Object Tracking System</dc:subject>
  <dc:creator>OpenAI</dc:creator>
  <cp:lastModifiedBy>OpenAI</cp:lastModifiedBy>
  <cp:revision>1</cp:revision>
  <dcterms:created xsi:type="dcterms:W3CDTF">2026-05-13T17:33:45Z</dcterms:created>
  <dcterms:modified xsi:type="dcterms:W3CDTF">2026-05-13T17:33:45Z</dcterms:modified>
</cp:coreProperties>
</file>