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SORT</c:v>
                </c:pt>
              </c:strCache>
            </c:strRef>
          </c:tx>
          <c:spPr>
            <a:ln w="25400" cap="flat">
              <a:solidFill>
                <a:srgbClr val="5D78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D7890"/>
              </a:solidFill>
              <a:ln w="9525" cap="flat">
                <a:solidFill>
                  <a:srgbClr val="5D7890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Speed</c:v>
                </c:pt>
                <c:pt idx="1">
                  <c:v>Occlusion</c:v>
                </c:pt>
                <c:pt idx="2">
                  <c:v>ID Stability</c:v>
                </c:pt>
                <c:pt idx="3">
                  <c:v>Setup simplicity</c:v>
                </c:pt>
                <c:pt idx="4">
                  <c:v>Demo fit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4</c:v>
                </c:pt>
                <c:pt idx="2">
                  <c:v>4</c:v>
                </c:pt>
                <c:pt idx="3">
                  <c:v>9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9B-47C7-9771-1510BB1F6B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DeepSORT</c:v>
                </c:pt>
              </c:strCache>
            </c:strRef>
          </c:tx>
          <c:spPr>
            <a:ln w="25400" cap="flat">
              <a:solidFill>
                <a:srgbClr val="00D4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D4FF"/>
              </a:solidFill>
              <a:ln w="9525" cap="flat">
                <a:solidFill>
                  <a:srgbClr val="00D4FF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Speed</c:v>
                </c:pt>
                <c:pt idx="1">
                  <c:v>Occlusion</c:v>
                </c:pt>
                <c:pt idx="2">
                  <c:v>ID Stability</c:v>
                </c:pt>
                <c:pt idx="3">
                  <c:v>Setup simplicity</c:v>
                </c:pt>
                <c:pt idx="4">
                  <c:v>Demo fit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8</c:v>
                </c:pt>
                <c:pt idx="3">
                  <c:v>5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9B-47C7-9771-1510BB1F6B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ByteTrack</c:v>
                </c:pt>
              </c:strCache>
            </c:strRef>
          </c:tx>
          <c:spPr>
            <a:ln w="25400" cap="flat">
              <a:solidFill>
                <a:srgbClr val="FF6B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Speed</c:v>
                </c:pt>
                <c:pt idx="1">
                  <c:v>Occlusion</c:v>
                </c:pt>
                <c:pt idx="2">
                  <c:v>ID Stability</c:v>
                </c:pt>
                <c:pt idx="3">
                  <c:v>Setup simplicity</c:v>
                </c:pt>
                <c:pt idx="4">
                  <c:v>Demo fit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E9B-47C7-9771-1510BB1F6B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6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DA6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Streamlit fit</c:v>
                </c:pt>
              </c:strCache>
            </c:strRef>
          </c:tx>
          <c:spPr>
            <a:solidFill>
              <a:srgbClr val="00D4FF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UI speed</c:v>
                </c:pt>
                <c:pt idx="1">
                  <c:v>Built-in widgets</c:v>
                </c:pt>
                <c:pt idx="2">
                  <c:v>Live metrics</c:v>
                </c:pt>
                <c:pt idx="3">
                  <c:v>Video demo</c:v>
                </c:pt>
                <c:pt idx="4">
                  <c:v>API scalability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9</c:v>
                </c:pt>
                <c:pt idx="2">
                  <c:v>9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EC-4BF1-82CF-AF756F2A70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FastAPI fit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UI speed</c:v>
                </c:pt>
                <c:pt idx="1">
                  <c:v>Built-in widgets</c:v>
                </c:pt>
                <c:pt idx="2">
                  <c:v>Live metrics</c:v>
                </c:pt>
                <c:pt idx="3">
                  <c:v>Video demo</c:v>
                </c:pt>
                <c:pt idx="4">
                  <c:v>API scalability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EC-4BF1-82CF-AF756F2A70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6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12700" cap="flat">
              <a:solidFill>
                <a:srgbClr val="24384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DA6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648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pic>
        <p:nvPicPr>
          <p:cNvPr id="5" name="Image 0" descr="/mnt/data/a_wide_cinematic_futuristic_surveillance_ai_moni.png"/>
          <p:cNvPicPr>
            <a:picLocks noChangeAspect="1"/>
          </p:cNvPicPr>
          <p:nvPr/>
        </p:nvPicPr>
        <p:blipFill>
          <a:blip r:embed="rId3"/>
          <a:srcRect l="22530" r="22530"/>
          <a:stretch/>
        </p:blipFill>
        <p:spPr>
          <a:xfrm>
            <a:off x="6126480" y="411480"/>
            <a:ext cx="5623560" cy="5760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FF"/>
                </a:solidFill>
              </a:rPr>
              <a:t>YOLO26m + ByteTrack + Streamlit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1691640"/>
            <a:ext cx="5257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Selective Object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Tracking System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21792" y="33375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8DA6BC"/>
                </a:solidFill>
              </a:rPr>
              <a:t>Real-time detection, persistent IDs, class filtering, live dashboard, and processed video export.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21792" y="4251960"/>
            <a:ext cx="512064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Vision • Multi-Object Tracking • Interactive Dashboard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What the system solves and what it delivers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196596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Videos and webcam streams contain multiple moving objects. The system needs to detect the target classes, keep stable IDs across frames, and give the user live control.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794760" y="1234440"/>
            <a:ext cx="196596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13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794760" y="18745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Python/OpenCV pipeline powered by YOLO26m for detection, ByteTrack for ID persistence, and Streamlit for an interactive tracking dashboard.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60920" y="1234440"/>
            <a:ext cx="1965960" cy="502920"/>
          </a:xfrm>
          <a:prstGeom prst="rect">
            <a:avLst/>
          </a:prstGeom>
          <a:solidFill>
            <a:srgbClr val="39FF14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60920" y="18745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tracking view with FPS monitor, tracked object count, progress bar, class filters, start/stop controls, and saved output video.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4069080"/>
            <a:ext cx="2011680" cy="411480"/>
          </a:xfrm>
          <a:prstGeom prst="rect">
            <a:avLst/>
          </a:prstGeom>
          <a:solidFill>
            <a:srgbClr val="0E2236"/>
          </a:solidFill>
          <a:ln w="12700">
            <a:solidFill>
              <a:srgbClr val="24496A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Features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4663440"/>
            <a:ext cx="1060704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EAF6FF"/>
                </a:solidFill>
              </a:rPr>
              <a:t>• Upload video or use webcam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6FF"/>
                </a:solidFill>
              </a:rPr>
              <a:t>• Track persons, cars, trucks, buses, motorcycles, or all classes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6FF"/>
                </a:solidFill>
              </a:rPr>
              <a:t>• Pause/resume processing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6FF"/>
                </a:solidFill>
              </a:rPr>
              <a:t>• Save processed output video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Flow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From video source to tracked output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2743200"/>
            <a:ext cx="41148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840480" y="2743200"/>
            <a:ext cx="5029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852160" y="2743200"/>
            <a:ext cx="502920" cy="0"/>
          </a:xfrm>
          <a:prstGeom prst="line">
            <a:avLst/>
          </a:prstGeom>
          <a:noFill/>
          <a:ln w="2032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863840" y="2743200"/>
            <a:ext cx="5029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75520" y="2743200"/>
            <a:ext cx="2743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02920" y="2331720"/>
            <a:ext cx="1417320" cy="822960"/>
          </a:xfrm>
          <a:prstGeom prst="rect">
            <a:avLst/>
          </a:prstGeom>
          <a:solidFill>
            <a:srgbClr val="111E32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Video/Webcam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23160" y="2331720"/>
            <a:ext cx="1417320" cy="822960"/>
          </a:xfrm>
          <a:prstGeom prst="rect">
            <a:avLst/>
          </a:prstGeom>
          <a:solidFill>
            <a:srgbClr val="111E32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OpenCV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 Capture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34840" y="2331720"/>
            <a:ext cx="1417320" cy="82296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YOLO26m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2331720"/>
            <a:ext cx="1417320" cy="822960"/>
          </a:xfrm>
          <a:prstGeom prst="rect">
            <a:avLst/>
          </a:prstGeom>
          <a:solidFill>
            <a:srgbClr val="111E32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ByteTrack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Association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58200" y="2331720"/>
            <a:ext cx="1417320" cy="822960"/>
          </a:xfrm>
          <a:prstGeom prst="rect">
            <a:avLst/>
          </a:prstGeom>
          <a:solidFill>
            <a:srgbClr val="111E32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Filters 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241280" y="2331720"/>
            <a:ext cx="1417320" cy="822960"/>
          </a:xfrm>
          <a:prstGeom prst="rect">
            <a:avLst/>
          </a:prstGeom>
          <a:solidFill>
            <a:srgbClr val="111E32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Streamlit UI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Output MP4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69080" y="3703320"/>
            <a:ext cx="2423160" cy="566928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 outputs: bounding boxes, class IDs, confidence scores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526280"/>
            <a:ext cx="2423160" cy="566928"/>
          </a:xfrm>
          <a:prstGeom prst="rect">
            <a:avLst/>
          </a:prstGeom>
          <a:solidFill>
            <a:srgbClr val="0E2236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 outputs: unique IDs, matched tracks, object persistence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57800" y="3154680"/>
            <a:ext cx="0" cy="54864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223760" y="3154680"/>
            <a:ext cx="91440" cy="1371600"/>
          </a:xfrm>
          <a:prstGeom prst="line">
            <a:avLst/>
          </a:prstGeom>
          <a:noFill/>
          <a:ln w="2032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85800" y="539496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 is intentionally simple: each frame is processed once, detections are passed directly into the tracker, then rendered and streamed back to the dashboard.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Frame Processing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One frame enters; a tracked frame leaves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50292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1874520" cy="14173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Frame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OpenCV captures the next frame.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68880" y="2743200"/>
            <a:ext cx="2743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898648" y="1417320"/>
            <a:ext cx="50292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98648" y="2057400"/>
            <a:ext cx="1874520" cy="14173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 Objects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YOLO26m returns boxes, scores, classes.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73168" y="2743200"/>
            <a:ext cx="2743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202936" y="1417320"/>
            <a:ext cx="50292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02936" y="2057400"/>
            <a:ext cx="1874520" cy="14173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IDs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ByteTrack links detections to existing tracks.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77456" y="2743200"/>
            <a:ext cx="2743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507224" y="1417320"/>
            <a:ext cx="50292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507224" y="2057400"/>
            <a:ext cx="1874520" cy="14173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Targets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filters and selected IDs are applied.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381744" y="2743200"/>
            <a:ext cx="27432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811512" y="1417320"/>
            <a:ext cx="50292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811512" y="2057400"/>
            <a:ext cx="1874520" cy="14173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 + Save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Boxes, IDs, FPS, and output video are written.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4572000"/>
            <a:ext cx="2286000" cy="548640"/>
          </a:xfrm>
          <a:prstGeom prst="rect">
            <a:avLst/>
          </a:prstGeom>
          <a:solidFill>
            <a:srgbClr val="0E2236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metrics loop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749040" y="4572000"/>
            <a:ext cx="1737360" cy="548640"/>
          </a:xfrm>
          <a:prstGeom prst="rect">
            <a:avLst/>
          </a:prstGeom>
          <a:solidFill>
            <a:srgbClr val="0E2236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FPS monitor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897880" y="4572000"/>
            <a:ext cx="1737360" cy="548640"/>
          </a:xfrm>
          <a:prstGeom prst="rect">
            <a:avLst/>
          </a:prstGeom>
          <a:solidFill>
            <a:srgbClr val="0E2236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count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046720" y="4572000"/>
            <a:ext cx="1737360" cy="548640"/>
          </a:xfrm>
          <a:prstGeom prst="rect">
            <a:avLst/>
          </a:prstGeom>
          <a:solidFill>
            <a:srgbClr val="0E2236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 bar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91840" y="4846320"/>
            <a:ext cx="457200" cy="0"/>
          </a:xfrm>
          <a:prstGeom prst="line">
            <a:avLst/>
          </a:prstGeom>
          <a:noFill/>
          <a:ln w="20320">
            <a:solidFill>
              <a:srgbClr val="39FF14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86400" y="4846320"/>
            <a:ext cx="411480" cy="0"/>
          </a:xfrm>
          <a:prstGeom prst="line">
            <a:avLst/>
          </a:prstGeom>
          <a:noFill/>
          <a:ln w="20320">
            <a:solidFill>
              <a:srgbClr val="39FF14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635240" y="4846320"/>
            <a:ext cx="411480" cy="0"/>
          </a:xfrm>
          <a:prstGeom prst="line">
            <a:avLst/>
          </a:prstGeom>
          <a:noFill/>
          <a:ln w="20320">
            <a:solidFill>
              <a:srgbClr val="39FF14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57150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pipeline supports both uploaded video files and live webcam streams while keeping the UI responsive enough for project demonstration.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Codebase Structure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Separation of concerns keeps the project easy to explain and extend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5029200" cy="438912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configs/config.py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856232"/>
            <a:ext cx="5029200" cy="5029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parameters and runtime settings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325880"/>
            <a:ext cx="5029200" cy="438912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detection/detector.py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55080" y="1856232"/>
            <a:ext cx="5029200" cy="5029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 model loading and frame-level detection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697480"/>
            <a:ext cx="5029200" cy="438912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tracker/tracking.py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3227832"/>
            <a:ext cx="5029200" cy="5029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Tracker configuration and object ID association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55080" y="2697480"/>
            <a:ext cx="5029200" cy="438912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pipeline.py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3227832"/>
            <a:ext cx="5029200" cy="5029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processing orchestration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069080"/>
            <a:ext cx="5029200" cy="438912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ui/streamlit_app.py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4599432"/>
            <a:ext cx="5029200" cy="5029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dashboard and user controls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4069080"/>
            <a:ext cx="5029200" cy="438912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outputs/output.mp4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55080" y="4599432"/>
            <a:ext cx="5029200" cy="50292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778" tIns="1778" rIns="1778" bIns="1778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Saved processed tracking result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57150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principle: keep the detector, tracker, pipeline, and UI independent so future upgrades can be introduced without rewriting the whole system.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YOLO26m?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The medium model sits at the best project trade-off point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6263640" cy="4069080"/>
          </a:xfrm>
          <a:prstGeom prst="rect">
            <a:avLst/>
          </a:prstGeom>
          <a:solidFill>
            <a:srgbClr val="0A1525"/>
          </a:solidFill>
          <a:ln w="12700">
            <a:solidFill>
              <a:srgbClr val="2449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417320"/>
            <a:ext cx="0" cy="406908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38528" y="1417320"/>
            <a:ext cx="0" cy="406908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91256" y="1417320"/>
            <a:ext cx="0" cy="406908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43984" y="1417320"/>
            <a:ext cx="0" cy="406908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96712" y="1417320"/>
            <a:ext cx="0" cy="406908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1417320"/>
            <a:ext cx="0" cy="406908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1417320"/>
            <a:ext cx="6263640" cy="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434590"/>
            <a:ext cx="6263640" cy="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451860"/>
            <a:ext cx="6263640" cy="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4469130"/>
            <a:ext cx="6263640" cy="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5486400"/>
            <a:ext cx="6263640" cy="0"/>
          </a:xfrm>
          <a:prstGeom prst="line">
            <a:avLst/>
          </a:prstGeom>
          <a:noFill/>
          <a:ln w="7620">
            <a:solidFill>
              <a:srgbClr val="24384E">
                <a:alpha val="5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5760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val 50–95 →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3232" y="11247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 ↑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466403" y="4869913"/>
            <a:ext cx="168752" cy="168752"/>
          </a:xfrm>
          <a:prstGeom prst="ellipse">
            <a:avLst/>
          </a:prstGeom>
          <a:solidFill>
            <a:srgbClr val="5D7890">
              <a:alpha val="80000"/>
            </a:srgbClr>
          </a:solidFill>
          <a:ln w="15240">
            <a:solidFill>
              <a:srgbClr val="5D78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23931" y="488113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33867" y="4590305"/>
            <a:ext cx="227160" cy="227160"/>
          </a:xfrm>
          <a:prstGeom prst="ellipse">
            <a:avLst/>
          </a:prstGeom>
          <a:solidFill>
            <a:srgbClr val="00A3C8">
              <a:alpha val="80000"/>
            </a:srgbClr>
          </a:solidFill>
          <a:ln w="15240">
            <a:solidFill>
              <a:srgbClr val="00A3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0599" y="4630733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48750" y="3874365"/>
            <a:ext cx="281812" cy="281812"/>
          </a:xfrm>
          <a:prstGeom prst="ellipse">
            <a:avLst/>
          </a:prstGeom>
          <a:solidFill>
            <a:srgbClr val="FF6B35">
              <a:alpha val="95000"/>
            </a:srgbClr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62807" y="3942119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06633" y="3396030"/>
            <a:ext cx="299464" cy="299464"/>
          </a:xfrm>
          <a:prstGeom prst="ellipse">
            <a:avLst/>
          </a:prstGeom>
          <a:solidFill>
            <a:srgbClr val="FFCC00">
              <a:alpha val="80000"/>
            </a:srgbClr>
          </a:solidFill>
          <a:ln w="15240">
            <a:solidFill>
              <a:srgbClr val="FFC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29518" y="347261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4998" y="1595889"/>
            <a:ext cx="394078" cy="394078"/>
          </a:xfrm>
          <a:prstGeom prst="ellipse">
            <a:avLst/>
          </a:prstGeom>
          <a:solidFill>
            <a:srgbClr val="39FF14">
              <a:alpha val="80000"/>
            </a:srgbClr>
          </a:solidFill>
          <a:ln w="15240">
            <a:solidFill>
              <a:srgbClr val="39FF1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75189" y="1719775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94360" y="5559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847088" y="5559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099816" y="5559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352544" y="5559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605272" y="5559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58000" y="5559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65760" y="54132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65760" y="439597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5760" y="33787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65760" y="236143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65760" y="134416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543800" y="1234440"/>
            <a:ext cx="3977640" cy="457200"/>
          </a:xfrm>
          <a:prstGeom prst="rect">
            <a:avLst/>
          </a:prstGeom>
          <a:solidFill>
            <a:srgbClr val="0E2236"/>
          </a:solidFill>
          <a:ln w="12700">
            <a:solidFill>
              <a:srgbClr val="24496A"/>
            </a:solidFill>
          </a:ln>
        </p:spPr>
        <p:txBody>
          <a:bodyPr wrap="square" lIns="1524" tIns="1524" rIns="1524" bIns="1524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not nano/small?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543800" y="18288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are faster, but the accuracy headroom is lower for small or partially occluded objects.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543800" y="2697480"/>
            <a:ext cx="3977640" cy="457200"/>
          </a:xfrm>
          <a:prstGeom prst="rect">
            <a:avLst/>
          </a:prstGeom>
          <a:solidFill>
            <a:srgbClr val="0E2236"/>
          </a:solidFill>
          <a:ln w="12700">
            <a:solidFill>
              <a:srgbClr val="24496A"/>
            </a:solidFill>
          </a:ln>
        </p:spPr>
        <p:txBody>
          <a:bodyPr wrap="square" lIns="1524" tIns="1524" rIns="1524" bIns="1524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not large/x?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543800" y="32918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add latency and memory load that are unnecessary for a Streamlit real-time demo.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7543800" y="4160520"/>
            <a:ext cx="3977640" cy="4572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YOLO26m decision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543800" y="4754880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53.1 mAP, 4.7 ms T4 latency, 20.4M params: strong detection quality without jumping to the heavier model family.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0080" y="58978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data: Ultralytics YOLO26 detection models on COCO val2017.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ByteTrack over DeepSORT and SORT?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Best fit for real-time selective tracking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94360" y="1234440"/>
          <a:ext cx="576072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720840" y="1325880"/>
            <a:ext cx="448056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ByteTrack advantage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720840" y="2103120"/>
            <a:ext cx="4480560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Associates almost every detection, including low-score boxes, which helps recover partially occluded objects.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Avoids the extra appearance embedding network used by DeepSORT, keeping the pipeline lighter.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More robust than plain SORT when detections are temporarily weak or missing.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Fits this project: real-time, class-filtered, dashboard-driven tracking.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72084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Radar scores are qualitative project-fit scores, not benchmark metrics.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ByteTrack Association Flow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How detections become stable object identities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86000" y="1874520"/>
            <a:ext cx="155448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577840" y="1874520"/>
            <a:ext cx="1554480" cy="0"/>
          </a:xfrm>
          <a:prstGeom prst="line">
            <a:avLst/>
          </a:prstGeom>
          <a:noFill/>
          <a:ln w="2032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869680" y="1874520"/>
            <a:ext cx="1554480" cy="0"/>
          </a:xfrm>
          <a:prstGeom prst="line">
            <a:avLst/>
          </a:prstGeom>
          <a:noFill/>
          <a:ln w="20320">
            <a:solidFill>
              <a:srgbClr val="39FF14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63240" y="4251960"/>
            <a:ext cx="1554480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55080" y="4251960"/>
            <a:ext cx="1554480" cy="0"/>
          </a:xfrm>
          <a:prstGeom prst="line">
            <a:avLst/>
          </a:prstGeom>
          <a:noFill/>
          <a:ln w="2032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" y="1417320"/>
            <a:ext cx="1600200" cy="91440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YOLO detections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(high + low scores)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1417320"/>
            <a:ext cx="1737360" cy="914400"/>
          </a:xfrm>
          <a:prstGeom prst="rect">
            <a:avLst/>
          </a:prstGeom>
          <a:solidFill>
            <a:srgbClr val="111E32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high-score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boxes to tracks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32320" y="1417320"/>
            <a:ext cx="1737360" cy="914400"/>
          </a:xfrm>
          <a:prstGeom prst="rect">
            <a:avLst/>
          </a:prstGeom>
          <a:solidFill>
            <a:srgbClr val="111E32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 true objects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low scores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0" y="1417320"/>
            <a:ext cx="1371600" cy="914400"/>
          </a:xfrm>
          <a:prstGeom prst="rect">
            <a:avLst/>
          </a:prstGeom>
          <a:solidFill>
            <a:srgbClr val="0E2236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IDs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object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3794760"/>
            <a:ext cx="1600200" cy="91440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background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 positives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17720" y="3794760"/>
            <a:ext cx="1737360" cy="91440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tracklets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across frames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909560" y="3794760"/>
            <a:ext cx="1737360" cy="914400"/>
          </a:xfrm>
          <a:prstGeom prst="rect">
            <a:avLst/>
          </a:prstGeom>
          <a:solidFill>
            <a:srgbClr val="111E32"/>
          </a:solidFill>
          <a:ln w="12700">
            <a:solidFill>
              <a:srgbClr val="24496A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 ID + class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frame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5778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idea: do not throw away weak detections too early. Weak boxes can still be useful when they match an existing track.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Streamlit over FastAPI?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The project needed a live product demo, not just a prediction endpoint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94360" y="1325880"/>
          <a:ext cx="566928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720840" y="1325880"/>
            <a:ext cx="452628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613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Streamlit was chosen because: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720840" y="2103120"/>
            <a:ext cx="4480560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It turns Python scripts into interactive data apps quickly.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It already provides sliders, buttons, file uploaders, progress bars, and metrics.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It is ideal for showing the tracking pipeline live to evaluators.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</a:rPr>
              <a:t>• FastAPI is excellent for backend APIs, but it would need a separate frontend for this dashboard.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720840" y="5577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7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scores are qualitative project-fit scores.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 Workflow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The dashboard experience from start to output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187452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source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2788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Upload video or select webcam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14600" y="2331720"/>
            <a:ext cx="246888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926080" y="1417320"/>
            <a:ext cx="50292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26080" y="2057400"/>
            <a:ext cx="187452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class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4368" y="2788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Person, car, truck, bus, motorcycle, or all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2331720"/>
            <a:ext cx="246888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212080" y="1417320"/>
            <a:ext cx="50292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12080" y="2057400"/>
            <a:ext cx="187452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tracking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230368" y="2788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frame processing begins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086600" y="2331720"/>
            <a:ext cx="246888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498080" y="1417320"/>
            <a:ext cx="50292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498080" y="2057400"/>
            <a:ext cx="187452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16368" y="2788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FPS, object count, progress, selected IDs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72600" y="2331720"/>
            <a:ext cx="246888" cy="0"/>
          </a:xfrm>
          <a:prstGeom prst="line">
            <a:avLst/>
          </a:prstGeom>
          <a:noFill/>
          <a:ln w="20320">
            <a:solidFill>
              <a:srgbClr val="00D4FF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784080" y="1417320"/>
            <a:ext cx="50292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784080" y="2057400"/>
            <a:ext cx="187452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802368" y="2788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Processed output saved to outputs/output.mp4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4572000"/>
            <a:ext cx="2286000" cy="502920"/>
          </a:xfrm>
          <a:prstGeom prst="rect">
            <a:avLst/>
          </a:prstGeom>
          <a:solidFill>
            <a:srgbClr val="0E2236"/>
          </a:solidFill>
          <a:ln w="12700">
            <a:solidFill>
              <a:srgbClr val="39FF14"/>
            </a:solidFill>
          </a:ln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value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429000" y="4617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8DA6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UI reduces technical friction: users do not need to run scripts manually or inspect terminal logs to understand performance.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068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Summary 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Current value 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234440"/>
            <a:ext cx="4937760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txBody>
          <a:bodyPr wrap="square" lIns="1524" tIns="1524" rIns="1524" bIns="1524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13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System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1965960"/>
            <a:ext cx="4800600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AF6FF"/>
                </a:solidFill>
              </a:rPr>
              <a:t>• Real-time YOLO detection with persistent object IDs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AF6FF"/>
                </a:solidFill>
              </a:rPr>
              <a:t>• Selectable classes and specific object tracking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AF6FF"/>
                </a:solidFill>
              </a:rPr>
              <a:t>• Live FPS, object count, progress, pause/resume controls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AF6FF"/>
                </a:solidFill>
              </a:rPr>
              <a:t>• Saved output video for reporting and review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1965960"/>
            <a:ext cx="480060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53949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>
              <a:alpha val="65000"/>
            </a:srgbClr>
          </a:solidFill>
          <a:ln w="12700">
            <a:solidFill>
              <a:srgbClr val="00D4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>
              <a:alpha val="55000"/>
            </a:srgbClr>
          </a:solidFill>
          <a:ln w="12700">
            <a:solidFill>
              <a:srgbClr val="FF6B3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F6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6BC"/>
                </a:solidFill>
              </a:rPr>
              <a:t>Sources used for technical justification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10789920" cy="4800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Project README: features, supported classes, structure, workflow, dashboard, and future improvements.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Ultralytics YOLO26 docs: NMS-free inference, edge optimization, supported tasks, and usage examples.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Ultralytics YOLO26 model table: COCO detection mAP, T4 TensorRT speed, parameters, FLOPs.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ByteTrack paper: associating every detection box to reduce missed objects and fragmented trajectories.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SORT paper: simple online realtime tracking baseline, detection quality dependency.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Deep SORT paper/repository: adds deep appearance descriptor to improve identity consistency.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Streamlit documentation: Python framework for interactive data apps with minimal front-end work.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6FF"/>
                </a:solidFill>
              </a:rPr>
              <a:t>• FastAPI documentation: high-performance Python framework for building APIs.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64922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7890"/>
                </a:solidFill>
              </a:rPr>
              <a:t>Selective Object Tracking System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7890"/>
                </a:solidFill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1127</Words>
  <Application>Microsoft Office PowerPoint</Application>
  <PresentationFormat>Widescreen</PresentationFormat>
  <Paragraphs>204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Selective Object Tracking System Presentation</dc:title>
  <dc:subject>Multi Object Tracking System</dc:subject>
  <dc:creator>OpenAI</dc:creator>
  <cp:lastModifiedBy>omar shaaban</cp:lastModifiedBy>
  <cp:revision>2</cp:revision>
  <dcterms:created xsi:type="dcterms:W3CDTF">2026-05-13T17:33:45Z</dcterms:created>
  <dcterms:modified xsi:type="dcterms:W3CDTF">2026-05-13T17:56:56Z</dcterms:modified>
</cp:coreProperties>
</file>